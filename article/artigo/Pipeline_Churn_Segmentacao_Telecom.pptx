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0B5C36"/>
                </a:solidFill>
                <a:latin typeface="Calibri"/>
                <a:ea typeface="Calibri"/>
              </a:rPr>
              <a:t>Pipeline para Predição de Churn e</a:t>
            </a:r>
          </a:p>
          <a:p>
            <a:pPr algn="l">
              <a:spcAft>
                <a:spcPts val="800"/>
              </a:spcAft>
            </a:pPr>
            <a:r>
              <a:rPr sz="3200" b="1">
                <a:solidFill>
                  <a:srgbClr val="0B5C36"/>
                </a:solidFill>
                <a:latin typeface="Calibri"/>
                <a:ea typeface="Calibri"/>
              </a:rPr>
              <a:t>Segmentação de Clientes em Risco</a:t>
            </a:r>
          </a:p>
          <a:p>
            <a:pPr algn="l">
              <a:spcAft>
                <a:spcPts val="800"/>
              </a:spcAft>
            </a:pPr>
            <a:r>
              <a:rPr sz="3200" b="1">
                <a:solidFill>
                  <a:srgbClr val="0B5C36"/>
                </a:solidFill>
                <a:latin typeface="Calibri"/>
                <a:ea typeface="Calibri"/>
              </a:rPr>
              <a:t>no Setor de Telecomunicações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5156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Matheus Eduardo Laurindo do Rego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Especialização em Ciência de Dados — UTFPR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matheusrego@alunos.utfpr.edu.br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Banca do Projeto Integrador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No telecom, a receita recorrente foge sem atrito — e a lista de risco chega crua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34440"/>
            <a:ext cx="3931920" cy="50292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54480"/>
            <a:ext cx="1234440" cy="3108960"/>
          </a:xfrm>
          <a:prstGeom prst="rect">
            <a:avLst/>
          </a:prstGeom>
          <a:solidFill>
            <a:srgbClr val="B0B6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4630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1 lista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1 tratamento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600200"/>
            <a:ext cx="1600200" cy="86868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78308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N0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2651760"/>
            <a:ext cx="1600200" cy="868680"/>
          </a:xfrm>
          <a:prstGeom prst="roundRect">
            <a:avLst/>
          </a:prstGeom>
          <a:solidFill>
            <a:srgbClr val="E84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834639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N1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3703320"/>
            <a:ext cx="1600200" cy="868680"/>
          </a:xfrm>
          <a:prstGeom prst="roundRect">
            <a:avLst/>
          </a:prstGeom>
          <a:solidFill>
            <a:srgbClr val="F6A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886200"/>
            <a:ext cx="16002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N2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80060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2B2B2B"/>
                </a:solidFill>
                <a:latin typeface="Calibri"/>
                <a:ea typeface="Calibri"/>
              </a:rPr>
              <a:t>3 núcleos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2B2B2B"/>
                </a:solidFill>
                <a:latin typeface="Calibri"/>
                <a:ea typeface="Calibri"/>
              </a:rPr>
              <a:t>3 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280160"/>
            <a:ext cx="7040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O projeto parte do cenário das operadoras de telecomunicações (banda larga): receita recorrente, canais digitais e planos sem fidelidade, em que trocar de empresa ficou barato para o cliente.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Cancelar (churn) custa caro: adquirir um assinante novo pesa bem mais do que reter quem já está na base.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A resposta usual da Ciência de Dados é um classificador — uma lista de quem deve cancelar, sem dizer que tipo de cliente é cada um.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Sem perfil, a operação trata todo cliente em risco da mesma forma — quando cada tipo pode exigir uma ação diferente e adaptada.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O Projeto Integrador é um pipeline mensal de núcleos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11880" cy="30175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389888"/>
            <a:ext cx="33192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Classificar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55648"/>
            <a:ext cx="3319272" cy="2432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2B2B"/>
                </a:solidFill>
                <a:latin typeface="Calibri"/>
                <a:ea typeface="Calibri"/>
              </a:rPr>
              <a:t>O XGBoost, com limiar 0,795, marca quem está em risco.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3774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0B5C36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11880" cy="30175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3984" y="1389888"/>
            <a:ext cx="33192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Agrupar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1755648"/>
            <a:ext cx="3319272" cy="2432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2B2B"/>
                </a:solidFill>
                <a:latin typeface="Calibri"/>
                <a:ea typeface="Calibri"/>
              </a:rPr>
              <a:t>O K-Means roda só nesses sinalizados, não na base inteira.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77440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0B5C36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611880" cy="30175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389888"/>
            <a:ext cx="33192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Devolver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755648"/>
            <a:ext cx="3319272" cy="2432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2B2B"/>
                </a:solidFill>
                <a:latin typeface="Calibri"/>
                <a:ea typeface="Calibri"/>
              </a:rPr>
              <a:t>Cada núcleo traz volume, fatura média e receita exposta.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111556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A cada ciclo a carteira entra e saem grupos de clientes em risco, já descritos em volume, fatura e receita.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Sobre os núcleos, o estudo traz uma análise exemplar de campanha; oferta e KPI ficam com a operação.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O piloto mostrou sinal, mas não chegou nas metas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48840" cy="10515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6187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Calibri"/>
                <a:ea typeface="Calibri"/>
              </a:rPr>
              <a:t>Amostra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148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B5C36"/>
                </a:solidFill>
                <a:latin typeface="Calibri"/>
                <a:ea typeface="Calibri"/>
              </a:rPr>
              <a:t>1.000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48840" cy="10515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6187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Calibri"/>
                <a:ea typeface="Calibri"/>
              </a:rPr>
              <a:t>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54480"/>
            <a:ext cx="2148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B5C36"/>
                </a:solidFill>
                <a:latin typeface="Calibri"/>
                <a:ea typeface="Calibri"/>
              </a:rPr>
              <a:t>0,787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148840" cy="10515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26187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Calibri"/>
                <a:ea typeface="Calibri"/>
              </a:rPr>
              <a:t>Acurácia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54480"/>
            <a:ext cx="2148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B5C36"/>
                </a:solidFill>
                <a:latin typeface="Calibri"/>
                <a:ea typeface="Calibri"/>
              </a:rPr>
              <a:t>75,5%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148840" cy="10515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26187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Calibri"/>
                <a:ea typeface="Calibri"/>
              </a:rPr>
              <a:t>Precisão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2148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B5C36"/>
                </a:solidFill>
                <a:latin typeface="Calibri"/>
                <a:ea typeface="Calibri"/>
              </a:rPr>
              <a:t>55,3%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48840" cy="10515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26187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300" b="0">
                <a:solidFill>
                  <a:srgbClr val="5A5A5A"/>
                </a:solidFill>
                <a:latin typeface="Calibri"/>
                <a:ea typeface="Calibri"/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554480"/>
            <a:ext cx="2148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0B5C36"/>
                </a:solidFill>
                <a:latin typeface="Calibri"/>
                <a:ea typeface="Calibri"/>
              </a:rPr>
              <a:t>46,2%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468880"/>
            <a:ext cx="11155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•  Recorte reduzido: 1.000 clientes, só tempo de casa e tipo de contrato, regressão logística e limiar 0,5.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•  No teste: AUC 0,787, acurácia 75,5%, precisão 55,3% e F1 46,2% — cerca de 2 vezes a taxa base, ainda abaixo das metas de 80%.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•  198 sinalizados em 2 grupos grosseiros (DSL vs fibra) e R$ 11,6 mil expostos: o problema é tratável; o recorte mínimo não basta.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O mesmo código roda de novo a cada carteira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34440"/>
            <a:ext cx="2148840" cy="155448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0B5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2057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  <a:ea typeface="Calibri"/>
              </a:rPr>
              <a:t>Carteira
do mês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5C36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234440"/>
            <a:ext cx="2148840" cy="155448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0B5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371600"/>
            <a:ext cx="2057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  <a:ea typeface="Calibri"/>
              </a:rPr>
              <a:t>extract +
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5C36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234440"/>
            <a:ext cx="2148840" cy="155448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0B5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057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  <a:ea typeface="Calibri"/>
              </a:rPr>
              <a:t>train
(XGB + K-Means
→ Production)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5C36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234440"/>
            <a:ext cx="2148840" cy="155448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0B5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371600"/>
            <a:ext cx="2057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  <a:ea typeface="Calibri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73736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0B5C36"/>
                </a:solidFill>
                <a:latin typeface="Calibri"/>
                <a:ea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1234440"/>
            <a:ext cx="2148840" cy="155448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0B5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371600"/>
            <a:ext cx="2057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B2B2B"/>
                </a:solidFill>
                <a:latin typeface="Calibri"/>
                <a:ea typeface="Calibri"/>
              </a:rPr>
              <a:t>núcleos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11155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•  Os notebooks definem a receita (Optuna, SHAP, K = 3); o pacote operacional repete o lote no mês seguinte.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•  Sem o manifesto Production, o score não pontua — só entra modelo aprovado.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•  Os números a seguir (1.556 clientes, R$ 123,4 mil) são a corrida de referência do laboratório; cada ciclo devolve o mesmo tipo de tabela.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Contrato mensal concentra o cancelamento</a:t>
            </a:r>
          </a:p>
        </p:txBody>
      </p:sp>
      <p:pic>
        <p:nvPicPr>
          <p:cNvPr id="3" name="Picture 2" descr="eda_contr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49224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126480"/>
            <a:ext cx="6400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Taxa de churn por contrato. Linha tracejada = média da base (26,5%).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23444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A base pública IBM Telco (7.043 clientes) entra como proxy da operadora: a base real não pode ser divulgada.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No contrato mensal o churn é 42,7%; no de dois anos, 2,8%. Quem cancela também tem menos tempo de casa (18 vs 38 meses).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Só essas duas variáveis não bastaram no piloto; o estudo completo derivou 47 atributos a partir das 21 colunas originais.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O limiar pesa mais do que a escolha do algoritmo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1430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0B5C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0B5C36"/>
                </a:solidFill>
                <a:latin typeface="Calibri"/>
                <a:ea typeface="Calibri"/>
              </a:rPr>
              <a:t>S  =  0,6 · F(β = 0,5)  +  0,4 · acurácia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60320"/>
            <a:ext cx="3657600" cy="35661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670048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Comparação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035808"/>
            <a:ext cx="3364992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2B2B"/>
                </a:solidFill>
                <a:latin typeface="Calibri"/>
                <a:ea typeface="Calibri"/>
              </a:rPr>
              <a:t>Foram comparados Random Forest, XGBoost e LightGBM (Optuna, 40 tentativas, 5 folds), com peso de classe e sem SMOTE.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560320"/>
            <a:ext cx="3657600" cy="35661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2670048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Por que a precisão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3035808"/>
            <a:ext cx="3364992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2B2B"/>
                </a:solidFill>
                <a:latin typeface="Calibri"/>
                <a:ea typeface="Calibri"/>
              </a:rPr>
              <a:t>Cada nome sinalizado vira contato. Por isso o objetivo privilegia precisão e o limiar entra dentro da busca.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560320"/>
            <a:ext cx="3657600" cy="356616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2670048"/>
            <a:ext cx="33649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Quem vence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3035808"/>
            <a:ext cx="3364992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2B2B"/>
                </a:solidFill>
                <a:latin typeface="Calibri"/>
                <a:ea typeface="Calibri"/>
              </a:rPr>
              <a:t>Os três empatam; o XGBoost vence no escore composto. Limiar calibrado: 0,795 (medir em 0,5 seria enganoso).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Dois em cada três contatados cancelariam de fato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194560" cy="9144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89888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5C36"/>
                </a:solidFill>
                <a:latin typeface="Calibri"/>
                <a:ea typeface="Calibri"/>
              </a:rPr>
              <a:t>0,847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79" y="1097280"/>
            <a:ext cx="2194560" cy="9144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79" y="11430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Acurácia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79" y="1389888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5C36"/>
                </a:solidFill>
                <a:latin typeface="Calibri"/>
                <a:ea typeface="Calibri"/>
              </a:rPr>
              <a:t>80,6%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097280"/>
            <a:ext cx="2194560" cy="9144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1430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Precisão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389888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5C36"/>
                </a:solidFill>
                <a:latin typeface="Calibri"/>
                <a:ea typeface="Calibri"/>
              </a:rPr>
              <a:t>66,4%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19" y="1097280"/>
            <a:ext cx="2194560" cy="9144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11430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1389888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5C36"/>
                </a:solidFill>
                <a:latin typeface="Calibri"/>
                <a:ea typeface="Calibri"/>
              </a:rPr>
              <a:t>54,0%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097280"/>
            <a:ext cx="2194560" cy="91440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143000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389888"/>
            <a:ext cx="21945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5C36"/>
                </a:solidFill>
                <a:latin typeface="Calibri"/>
                <a:ea typeface="Calibri"/>
              </a:rPr>
              <a:t>59,6%</a:t>
            </a:r>
          </a:p>
        </p:txBody>
      </p:sp>
      <p:pic>
        <p:nvPicPr>
          <p:cNvPr id="18" name="Picture 17" descr="avaliacao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48840"/>
            <a:ext cx="7589520" cy="3200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5394960"/>
            <a:ext cx="749807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Teste com 1.409 clientes: matriz, ROC e teto de F1 × acurácia.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148840"/>
            <a:ext cx="3794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•  De 374 cancelamentos reais: 202 certos, 102 alarmes falsos e 172 casos perdidos. Precisão ≈ 2,5 vezes a taxa base (26,5%).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•  Meta de acurácia 80%: atingida. Meta de F1 80%: não — o teto desta base fica em torno de 64%.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•  O limite está nos dados (sem consumo, atendimento ou qualidade), não na falta de um quarto algoritmo.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O modelo se apoia nas features derivadas, não em demografia</a:t>
            </a:r>
          </a:p>
        </p:txBody>
      </p:sp>
      <p:pic>
        <p:nvPicPr>
          <p:cNvPr id="3" name="Picture 2" descr="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400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172200"/>
            <a:ext cx="6400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15 variáveis mais influentes. Azul = valor baixo; vermelho = alto.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1234440"/>
            <a:ext cx="49377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As duas variáveis mais importantes foram criadas no estudo: fatura × contrato mensal e o escore de risco. Em terceiro vem o tempo de casa.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Tenure alto e contrato de dois anos reduzem o risco estimado; gênero não entra no topo.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O SHAP explica o modelo, não a causa — não se afirma que baixar a fatura reduz o cancelamento.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A saída de cada ciclo são três núcleos, não uma lista única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3703320" cy="41148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429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Núcleo 0 — novos em DSL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241 clientes (15,5%)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64991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2,7 meses · R$ 42,47/mês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6908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8795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65,6% cancelaram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34440"/>
            <a:ext cx="3703320" cy="4114800"/>
          </a:xfrm>
          <a:prstGeom prst="roundRect">
            <a:avLst/>
          </a:prstGeom>
          <a:solidFill>
            <a:srgbClr val="E84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429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Núcleo 1 — veteranos em fibra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42316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54203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427 clientes (27,4%)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24612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364991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26,7 meses · R$ 94,54/mês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06908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18795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66,5% cancelaram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234440"/>
            <a:ext cx="3703320" cy="4114800"/>
          </a:xfrm>
          <a:prstGeom prst="roundRect">
            <a:avLst/>
          </a:prstGeom>
          <a:solidFill>
            <a:srgbClr val="F6A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17320"/>
            <a:ext cx="3429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</a:rPr>
              <a:t>Núcleo 2 — novos em fibra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42316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54203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888 clientes (57,1%)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24612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364991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4,8 meses · R$ 81,93/mês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4069080"/>
            <a:ext cx="3246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87952"/>
            <a:ext cx="3246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2B2B2B"/>
                </a:solidFill>
                <a:latin typeface="Calibri"/>
                <a:ea typeface="Calibri"/>
              </a:rPr>
              <a:t>72,1% cancelaram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1.556 sinalizados na corrida de referência (limiar 0,795, K = 3). O classificador montou a lista; o K-Means montou os grupos que a empresa lê.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Volume de clientes não é volume de receita</a:t>
            </a:r>
          </a:p>
        </p:txBody>
      </p:sp>
      <p:pic>
        <p:nvPicPr>
          <p:cNvPr id="3" name="Picture 2" descr="receita_particip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9436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035040"/>
            <a:ext cx="5943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5A5A5A"/>
                </a:solidFill>
                <a:latin typeface="Calibri"/>
                <a:ea typeface="Calibri"/>
              </a:rPr>
              <a:t>Fatia de cada núcleo nos R$ 123,4 mil mensais expostos.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Os 1.556 sinalizados expõem R$ 123,4 mil por mês (cerca de R$ 1,48 milhão no ano se ninguém for retido).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O núcleo 0 tem 15,5% dos nomes e só 8,3% do dinheiro; o núcleo 2 tem 57,1% dos nomes e 59,0% da receita.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•  Uma campanha única para os 1.556 misturaria quem paga R$ 42 com quem paga R$ 95 — por isso os núcleos existem.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Leitura exemplar: um caminho possível por núcleo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64592" cy="1188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Núcleo 0 — DSL novo, fatura baixa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Hipótese de atrito de adoção: integração por canal barato e convite ao contrato anual.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14600"/>
            <a:ext cx="11247120" cy="11887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164592" cy="1188720"/>
          </a:xfrm>
          <a:prstGeom prst="rect">
            <a:avLst/>
          </a:prstGeom>
          <a:solidFill>
            <a:srgbClr val="E84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Núcleo 1 — fibra veterana, sem suporte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6070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Conta alta: contato humano e um período de suporte incluso, porque o ticket paga o esforço.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47120" cy="11887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64592" cy="1188720"/>
          </a:xfrm>
          <a:prstGeom prst="rect">
            <a:avLst/>
          </a:prstGeom>
          <a:solidFill>
            <a:srgbClr val="F6A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13631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5C36"/>
                </a:solidFill>
                <a:latin typeface="Calibri"/>
                <a:ea typeface="Calibri"/>
              </a:rPr>
              <a:t>Núcleo 2 — fibra recente, 59% da receita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060704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B2B2B"/>
                </a:solidFill>
                <a:latin typeface="Calibri"/>
                <a:ea typeface="Calibri"/>
              </a:rPr>
              <a:t>Maior risco: prioridade em qualidade de sinal e oferta de permanência.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1124712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A5A5A"/>
                </a:solidFill>
                <a:latin typeface="Calibri"/>
                <a:ea typeface="Calibri"/>
              </a:rPr>
              <a:t>Análise exemplar. O Projeto Integrador é o pipeline que republica os núcleos; canal, oferta e KPI ficam com a operação.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Cinco perguntas que resumem 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9601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52144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5C36"/>
                </a:solidFill>
                <a:latin typeface="Calibri"/>
                <a:ea typeface="Calibri"/>
              </a:rPr>
              <a:t>O que é o Projeto Integrador?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Um pipeline mensal: classifica o risco de churn e devolve núcleos de quem foi sinalizado.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39"/>
            <a:ext cx="11247120" cy="9601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03703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5C36"/>
                </a:solidFill>
                <a:latin typeface="Calibri"/>
                <a:ea typeface="Calibri"/>
              </a:rPr>
              <a:t>Qual o problema no cenário de telecom?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2887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A lista de quem vai cancelar chega sem perfil, e a operação trata todo cliente em risco do mesmo jeito — quando cada tipo pede uma ação diferente.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47120" cy="9601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55264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5C36"/>
                </a:solidFill>
                <a:latin typeface="Calibri"/>
                <a:ea typeface="Calibri"/>
              </a:rPr>
              <a:t>O que o piloto mostrou?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84448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Que o problema é tratável — e que tenure + contrato, sozinhos, não chegam nas metas nem em núcleos úteis.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59"/>
            <a:ext cx="11247120" cy="9601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06823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5C36"/>
                </a:solidFill>
                <a:latin typeface="Calibri"/>
                <a:ea typeface="Calibri"/>
              </a:rPr>
              <a:t>Qual o resultado da corrida de referência?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36007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XGBoost com AUC 0,847 e precisão 66,4%; 1.556 sinalizados, K = 3 e R$ 123,4 mil/mês expostos.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47120" cy="960120"/>
          </a:xfrm>
          <a:prstGeom prst="roundRect">
            <a:avLst/>
          </a:prstGeom>
          <a:solidFill>
            <a:srgbClr val="F4F6F5"/>
          </a:solidFill>
          <a:ln w="12700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58383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B5C36"/>
                </a:solidFill>
                <a:latin typeface="Calibri"/>
                <a:ea typeface="Calibri"/>
              </a:rPr>
              <a:t>A campanha é a entrega?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87568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B2B2B"/>
                </a:solidFill>
                <a:latin typeface="Calibri"/>
                <a:ea typeface="Calibri"/>
              </a:rPr>
              <a:t>Não: é análise exemplar. A entrega é o pipeline que republica os núcleos a cada ciclo.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B5C36"/>
                </a:solidFill>
                <a:latin typeface="Calibri"/>
                <a:ea typeface="Calibri"/>
              </a:rPr>
              <a:t>Aprendizados da pós-graduação neste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•  Da formação em Ciência de Dados veio a cadeia completa: extração e qualidade da base, EDA com teste estatístico, engenharia de atributos, classificação, agrupamento e interpretabilidade (SHAP).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•  A disciplina de projeto exigiu ir além do notebook: o lote extract → train → score, o manifesto Production e a escrita do piloto e do artigo em formato SBC.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B2B2B"/>
                </a:solidFill>
                <a:latin typeface="Calibri"/>
                <a:ea typeface="Calibri"/>
              </a:rPr>
              <a:t>•  O aprendizado que pesa na prática: escolher métrica pelo custo do contato, admitir o teto da base (~64% de F1) e traduzir modelo em núcleos que a operação consegue 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A5A5A"/>
                </a:solidFill>
                <a:latin typeface="Calibri"/>
                <a:ea typeface="Calibri"/>
              </a:rPr>
              <a:t>Limitações: sem linha do tempo; silhueta 0,283 (corte útil, não grupos naturais); receita = exposição bruta, não perda esperada.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25780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Obrigado.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Matheus Eduardo Laurindo do Rego  ·  Especialização em Ciência de Dados — UTFPR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Calibri"/>
                <a:ea typeface="Calibri"/>
              </a:rPr>
              <a:t>matheusrego@alunos.utfpr.edu.br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